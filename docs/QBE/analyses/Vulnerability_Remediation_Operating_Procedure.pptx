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Vulnerability Remediation Operating Procedure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E8F0F8"/>
                </a:solidFill>
              </a:rPr>
              <a:t>APRA-Defensible | Board-Approved | CPS 234 Compliant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Executive Summary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3A5F"/>
                </a:solidFill>
              </a:rPr>
              <a:t>Key Principles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• Speed &amp; Discipline: Respond to vulnerabilities with urgency while maintaining rigor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• Enterprise Coordination: Ensure cross-functional alignment and accountability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• Risk-Based Approach: Prioritize remediation based on vulnerability severity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• Traceability: Maintain comprehensive evidence audit trails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• Independent Verification: Ensure third-party validation and Board oversight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Purpose &amp; Scope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3A5F"/>
                </a:solidFill>
              </a:rPr>
              <a:t>Purpose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Define a structured approach for identifying, assessing, and remediating vulnerabilities in a manner that is defensible, compliant with APRA CPS 234, and Board-approved.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3A5F"/>
                </a:solidFill>
              </a:rPr>
              <a:t>Scope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29200" y="15544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Applies to all critical and high-severity vulnerabilities affecting QBE systems and infrastructure. Covers all phases from identification through closure.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8229600" cy="2286000"/>
          </a:xfrm>
          <a:prstGeom prst="rect">
            <a:avLst/>
          </a:prstGeom>
          <a:solidFill>
            <a:srgbClr val="E8F0F8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43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3A5F"/>
                </a:solidFill>
              </a:rPr>
              <a:t>Exclusions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• Low-severity vulnerabilities (managed through standard patching)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1440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• Vulnerabilities in EOL systems scheduled for decommissioning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• Third-party SaaS applications (managed via vendor SLAs)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Risk Management Framework Alignment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1645920"/>
          </a:xfrm>
          <a:prstGeom prst="rect">
            <a:avLst/>
          </a:prstGeom>
          <a:solidFill>
            <a:srgbClr val="0066C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34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CPS 234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Information Security Requirements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514600" y="1097280"/>
            <a:ext cx="1828800" cy="1645920"/>
          </a:xfrm>
          <a:prstGeom prst="rect">
            <a:avLst/>
          </a:prstGeom>
          <a:solidFill>
            <a:srgbClr val="0066C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234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Risk Governance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606040" y="16916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Board oversight and escalation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0" y="1097280"/>
            <a:ext cx="1828800" cy="1645920"/>
          </a:xfrm>
          <a:prstGeom prst="rect">
            <a:avLst/>
          </a:prstGeom>
          <a:solidFill>
            <a:srgbClr val="0066C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234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Operational Risk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63440" y="16916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Technology risk management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629400" y="1097280"/>
            <a:ext cx="1828800" cy="1645920"/>
          </a:xfrm>
          <a:prstGeom prst="rect">
            <a:avLst/>
          </a:prstGeom>
          <a:solidFill>
            <a:srgbClr val="0066C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1234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Compliance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720840" y="16916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FFFFFF"/>
                </a:solidFill>
              </a:rPr>
              <a:t>Regulatory and audit requirements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This procedure ensures alignment with all governance frameworks and regulatory requirements.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Governance Structure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Executive Sponsor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468880" y="11430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Overall accountability &amp; Board liaison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54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Vuln Mgmt Committee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468880" y="155448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Oversight, prioritization &amp; approval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65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Business Units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468880" y="196596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Operational impact assessment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377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Cyber Security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468880" y="237744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Technical assessment &amp; strategy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788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Risk Management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468880" y="27889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Risk assessment &amp; compliance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200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Implementation Team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468880" y="32004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Execution &amp; validation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Accountability &amp; Escalation Matrix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371600" cy="411480"/>
          </a:xfrm>
          <a:prstGeom prst="rect">
            <a:avLst/>
          </a:prstGeom>
          <a:solidFill>
            <a:srgbClr val="1E3A5F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70432"/>
            <a:ext cx="1188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Severity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828800" y="1097280"/>
            <a:ext cx="1645920" cy="411480"/>
          </a:xfrm>
          <a:prstGeom prst="rect">
            <a:avLst/>
          </a:prstGeom>
          <a:solidFill>
            <a:srgbClr val="1E3A5F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1170432"/>
            <a:ext cx="1463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Response Time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474720" y="1097280"/>
            <a:ext cx="2286000" cy="411480"/>
          </a:xfrm>
          <a:prstGeom prst="rect">
            <a:avLst/>
          </a:prstGeom>
          <a:solidFill>
            <a:srgbClr val="1E3A5F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170432"/>
            <a:ext cx="21031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Escalation Path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760720" y="1097280"/>
            <a:ext cx="2011680" cy="411480"/>
          </a:xfrm>
          <a:prstGeom prst="rect">
            <a:avLst/>
          </a:prstGeom>
          <a:solidFill>
            <a:srgbClr val="1E3A5F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1170432"/>
            <a:ext cx="18288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Authority Level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1371600" cy="411480"/>
          </a:xfrm>
          <a:prstGeom prst="rect">
            <a:avLst/>
          </a:prstGeom>
          <a:solidFill>
            <a:srgbClr val="E8F0F8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581912"/>
            <a:ext cx="1188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1F1F1F"/>
                </a:solidFill>
              </a:rPr>
              <a:t>CRITICAL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1828800" y="1508760"/>
            <a:ext cx="1645920" cy="411480"/>
          </a:xfrm>
          <a:prstGeom prst="rect">
            <a:avLst/>
          </a:prstGeom>
          <a:solidFill>
            <a:srgbClr val="E8F0F8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0240" y="1581912"/>
            <a:ext cx="1463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1F1F1F"/>
                </a:solidFill>
              </a:rPr>
              <a:t>24 hours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474720" y="1508760"/>
            <a:ext cx="2286000" cy="411480"/>
          </a:xfrm>
          <a:prstGeom prst="rect">
            <a:avLst/>
          </a:prstGeom>
          <a:solidFill>
            <a:srgbClr val="E8F0F8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1581912"/>
            <a:ext cx="21031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1F1F1F"/>
                </a:solidFill>
              </a:rPr>
              <a:t>CIO → EVP Risk → CEO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760720" y="1508760"/>
            <a:ext cx="2011680" cy="411480"/>
          </a:xfrm>
          <a:prstGeom prst="rect">
            <a:avLst/>
          </a:prstGeom>
          <a:solidFill>
            <a:srgbClr val="E8F0F8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1581912"/>
            <a:ext cx="18288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1F1F1F"/>
                </a:solidFill>
              </a:rPr>
              <a:t>Board/Executive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57200" y="1920240"/>
            <a:ext cx="1371600" cy="411480"/>
          </a:xfrm>
          <a:prstGeom prst="rect">
            <a:avLst/>
          </a:prstGeom>
          <a:solidFill>
            <a:srgbClr val="E8F0F8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1993392"/>
            <a:ext cx="1188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1F1F1F"/>
                </a:solidFill>
              </a:rPr>
              <a:t>HIGH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1828800" y="1920240"/>
            <a:ext cx="1645920" cy="411480"/>
          </a:xfrm>
          <a:prstGeom prst="rect">
            <a:avLst/>
          </a:prstGeom>
          <a:solidFill>
            <a:srgbClr val="E8F0F8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20240" y="1993392"/>
            <a:ext cx="1463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1F1F1F"/>
                </a:solidFill>
              </a:rPr>
              <a:t>72 hours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474720" y="1920240"/>
            <a:ext cx="2286000" cy="411480"/>
          </a:xfrm>
          <a:prstGeom prst="rect">
            <a:avLst/>
          </a:prstGeom>
          <a:solidFill>
            <a:srgbClr val="E8F0F8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1993392"/>
            <a:ext cx="21031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1F1F1F"/>
                </a:solidFill>
              </a:rPr>
              <a:t>CIO → SVP Cyber → Executive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760720" y="1920240"/>
            <a:ext cx="2011680" cy="411480"/>
          </a:xfrm>
          <a:prstGeom prst="rect">
            <a:avLst/>
          </a:prstGeom>
          <a:solidFill>
            <a:srgbClr val="E8F0F8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1993392"/>
            <a:ext cx="18288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1F1F1F"/>
                </a:solidFill>
              </a:rPr>
              <a:t>Executive/Board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57200" y="2331720"/>
            <a:ext cx="1371600" cy="411480"/>
          </a:xfrm>
          <a:prstGeom prst="rect">
            <a:avLst/>
          </a:prstGeom>
          <a:solidFill>
            <a:srgbClr val="E8F0F8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2404872"/>
            <a:ext cx="1188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1F1F1F"/>
                </a:solidFill>
              </a:rPr>
              <a:t>MEDIUM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1828800" y="2331720"/>
            <a:ext cx="1645920" cy="411480"/>
          </a:xfrm>
          <a:prstGeom prst="rect">
            <a:avLst/>
          </a:prstGeom>
          <a:solidFill>
            <a:srgbClr val="E8F0F8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20240" y="2404872"/>
            <a:ext cx="1463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1F1F1F"/>
                </a:solidFill>
              </a:rPr>
              <a:t>10 days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3474720" y="2331720"/>
            <a:ext cx="2286000" cy="411480"/>
          </a:xfrm>
          <a:prstGeom prst="rect">
            <a:avLst/>
          </a:prstGeom>
          <a:solidFill>
            <a:srgbClr val="E8F0F8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0" y="2404872"/>
            <a:ext cx="21031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1F1F1F"/>
                </a:solidFill>
              </a:rPr>
              <a:t>Cyber Security Lead → Manager</a:t>
            </a: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5760720" y="2331720"/>
            <a:ext cx="2011680" cy="411480"/>
          </a:xfrm>
          <a:prstGeom prst="rect">
            <a:avLst/>
          </a:prstGeom>
          <a:solidFill>
            <a:srgbClr val="E8F0F8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0" y="2404872"/>
            <a:ext cx="18288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1F1F1F"/>
                </a:solidFill>
              </a:rPr>
              <a:t>Management</a:t>
            </a: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57200" y="2743200"/>
            <a:ext cx="1371600" cy="411480"/>
          </a:xfrm>
          <a:prstGeom prst="rect">
            <a:avLst/>
          </a:prstGeom>
          <a:solidFill>
            <a:srgbClr val="E8F0F8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2816352"/>
            <a:ext cx="1188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1F1F1F"/>
                </a:solidFill>
              </a:rPr>
              <a:t>LOW</a:t>
            </a: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1828800" y="2743200"/>
            <a:ext cx="1645920" cy="411480"/>
          </a:xfrm>
          <a:prstGeom prst="rect">
            <a:avLst/>
          </a:prstGeom>
          <a:solidFill>
            <a:srgbClr val="E8F0F8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20240" y="2816352"/>
            <a:ext cx="14630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1F1F1F"/>
                </a:solidFill>
              </a:rPr>
              <a:t>30 days</a:t>
            </a: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3474720" y="2743200"/>
            <a:ext cx="2286000" cy="411480"/>
          </a:xfrm>
          <a:prstGeom prst="rect">
            <a:avLst/>
          </a:prstGeom>
          <a:solidFill>
            <a:srgbClr val="E8F0F8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66160" y="2816352"/>
            <a:ext cx="21031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1F1F1F"/>
                </a:solidFill>
              </a:rPr>
              <a:t>Standard change process</a:t>
            </a: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5760720" y="2743200"/>
            <a:ext cx="2011680" cy="411480"/>
          </a:xfrm>
          <a:prstGeom prst="rect">
            <a:avLst/>
          </a:prstGeom>
          <a:solidFill>
            <a:srgbClr val="E8F0F8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52160" y="2816352"/>
            <a:ext cx="18288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1F1F1F"/>
                </a:solidFill>
              </a:rPr>
              <a:t>Team Lead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Procedure Phases Overview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005840" cy="822960"/>
          </a:xfrm>
          <a:prstGeom prst="roundRect">
            <a:avLst/>
          </a:prstGeom>
          <a:solidFill>
            <a:srgbClr val="0066C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5087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1. Identification</a:t>
            </a:r>
            <a:endParaRPr lang="en-US" dirty="0"/>
          </a:p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&amp; Assessment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417320" y="1645920"/>
            <a:ext cx="182880" cy="274320"/>
          </a:xfrm>
          <a:prstGeom prst="triangle">
            <a:avLst/>
          </a:prstGeom>
          <a:solidFill>
            <a:srgbClr val="666666"/>
          </a:solidFill>
          <a:ln/>
        </p:spPr>
      </p:sp>
      <p:sp>
        <p:nvSpPr>
          <p:cNvPr id="7" name="Shape 5"/>
          <p:cNvSpPr/>
          <p:nvPr/>
        </p:nvSpPr>
        <p:spPr>
          <a:xfrm>
            <a:off x="1463040" y="1371600"/>
            <a:ext cx="1005840" cy="822960"/>
          </a:xfrm>
          <a:prstGeom prst="roundRect">
            <a:avLst/>
          </a:prstGeom>
          <a:solidFill>
            <a:srgbClr val="00A651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5087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2. Business</a:t>
            </a:r>
            <a:endParaRPr lang="en-US" dirty="0"/>
          </a:p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Engagement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514600" y="1645920"/>
            <a:ext cx="182880" cy="274320"/>
          </a:xfrm>
          <a:prstGeom prst="triangle">
            <a:avLst/>
          </a:prstGeom>
          <a:solidFill>
            <a:srgbClr val="666666"/>
          </a:solidFill>
          <a:ln/>
        </p:spPr>
      </p:sp>
      <p:sp>
        <p:nvSpPr>
          <p:cNvPr id="10" name="Shape 8"/>
          <p:cNvSpPr/>
          <p:nvPr/>
        </p:nvSpPr>
        <p:spPr>
          <a:xfrm>
            <a:off x="2560320" y="1371600"/>
            <a:ext cx="1005840" cy="822960"/>
          </a:xfrm>
          <a:prstGeom prst="roundRect">
            <a:avLst/>
          </a:prstGeom>
          <a:solidFill>
            <a:srgbClr val="0066CC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5087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3. Approval &amp;</a:t>
            </a:r>
            <a:endParaRPr lang="en-US" dirty="0"/>
          </a:p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Prioritization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611880" y="1645920"/>
            <a:ext cx="182880" cy="274320"/>
          </a:xfrm>
          <a:prstGeom prst="triangle">
            <a:avLst/>
          </a:prstGeom>
          <a:solidFill>
            <a:srgbClr val="666666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0" y="1371600"/>
            <a:ext cx="1005840" cy="822960"/>
          </a:xfrm>
          <a:prstGeom prst="roundRect">
            <a:avLst/>
          </a:prstGeom>
          <a:solidFill>
            <a:srgbClr val="00A651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15087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4. Remediation</a:t>
            </a:r>
            <a:endParaRPr lang="en-US" dirty="0"/>
          </a:p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Execution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709160" y="1645920"/>
            <a:ext cx="182880" cy="274320"/>
          </a:xfrm>
          <a:prstGeom prst="triangle">
            <a:avLst/>
          </a:prstGeom>
          <a:solidFill>
            <a:srgbClr val="666666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0" y="1371600"/>
            <a:ext cx="1005840" cy="822960"/>
          </a:xfrm>
          <a:prstGeom prst="roundRect">
            <a:avLst/>
          </a:prstGeom>
          <a:solidFill>
            <a:srgbClr val="0066CC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5087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5. Validation</a:t>
            </a:r>
            <a:endParaRPr lang="en-US" dirty="0"/>
          </a:p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&amp; Testing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806440" y="1645920"/>
            <a:ext cx="182880" cy="274320"/>
          </a:xfrm>
          <a:prstGeom prst="triangle">
            <a:avLst/>
          </a:prstGeom>
          <a:solidFill>
            <a:srgbClr val="666666"/>
          </a:solidFill>
          <a:ln/>
        </p:spPr>
      </p:sp>
      <p:sp>
        <p:nvSpPr>
          <p:cNvPr id="19" name="Shape 17"/>
          <p:cNvSpPr/>
          <p:nvPr/>
        </p:nvSpPr>
        <p:spPr>
          <a:xfrm>
            <a:off x="5852160" y="1371600"/>
            <a:ext cx="1005840" cy="822960"/>
          </a:xfrm>
          <a:prstGeom prst="roundRect">
            <a:avLst/>
          </a:prstGeom>
          <a:solidFill>
            <a:srgbClr val="00A651"/>
          </a:solidFill>
          <a:ln/>
        </p:spPr>
      </p:sp>
      <p:sp>
        <p:nvSpPr>
          <p:cNvPr id="20" name="Text 18"/>
          <p:cNvSpPr/>
          <p:nvPr/>
        </p:nvSpPr>
        <p:spPr>
          <a:xfrm>
            <a:off x="5852160" y="15087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6. Deployment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903720" y="1645920"/>
            <a:ext cx="182880" cy="274320"/>
          </a:xfrm>
          <a:prstGeom prst="triangle">
            <a:avLst/>
          </a:prstGeom>
          <a:solidFill>
            <a:srgbClr val="666666"/>
          </a:solidFill>
          <a:ln/>
        </p:spPr>
      </p:sp>
      <p:sp>
        <p:nvSpPr>
          <p:cNvPr id="22" name="Shape 20"/>
          <p:cNvSpPr/>
          <p:nvPr/>
        </p:nvSpPr>
        <p:spPr>
          <a:xfrm>
            <a:off x="6949440" y="1371600"/>
            <a:ext cx="1005840" cy="822960"/>
          </a:xfrm>
          <a:prstGeom prst="roundRect">
            <a:avLst/>
          </a:prstGeom>
          <a:solidFill>
            <a:srgbClr val="0066CC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15087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7. Post-Deploy</a:t>
            </a:r>
            <a:endParaRPr lang="en-US" dirty="0"/>
          </a:p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Validation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8001000" y="1645920"/>
            <a:ext cx="182880" cy="274320"/>
          </a:xfrm>
          <a:prstGeom prst="triangle">
            <a:avLst/>
          </a:prstGeom>
          <a:solidFill>
            <a:srgbClr val="666666"/>
          </a:solidFill>
          <a:ln/>
        </p:spPr>
      </p:sp>
      <p:sp>
        <p:nvSpPr>
          <p:cNvPr id="25" name="Shape 23"/>
          <p:cNvSpPr/>
          <p:nvPr/>
        </p:nvSpPr>
        <p:spPr>
          <a:xfrm>
            <a:off x="8046720" y="1371600"/>
            <a:ext cx="1005840" cy="822960"/>
          </a:xfrm>
          <a:prstGeom prst="roundRect">
            <a:avLst/>
          </a:prstGeom>
          <a:solidFill>
            <a:srgbClr val="00A651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0" y="1508760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8. Closure &amp;</a:t>
            </a:r>
            <a:endParaRPr lang="en-US" dirty="0"/>
          </a:p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Documentation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1F1F1F"/>
                </a:solidFill>
              </a:rPr>
              <a:t>End-to-End Lifecycle: From discovery through Board-approved closure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Phase 1: Identification &amp; Assessment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3A5F"/>
                </a:solidFill>
              </a:rPr>
              <a:t>Key Activities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→ Vulnerability scanning and discovery across all systems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→ Initial severity assessment using CVSS v3.1 scoring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→ Impact analysis on business-critical functions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→ Stakeholder notification and acknowledgment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solidFill>
            <a:srgbClr val="E8F0F8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4290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E3A5F"/>
                </a:solidFill>
              </a:rPr>
              <a:t>Outputs: Vulnerability registry, severity classification, impact assessment report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Phase 2: Business Engagement &amp; Solution Design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3A5F"/>
                </a:solidFill>
              </a:rPr>
              <a:t>Business Impact Assessment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• Customer experience implications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• Operational process impacts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• Commercial consequences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3A5F"/>
                </a:solidFill>
              </a:rPr>
              <a:t>Solution Design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21208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• Control mechanisms review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212080" y="1920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• Architectural validation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212080" y="2286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• Security design review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CC0000"/>
                </a:solidFill>
              </a:rPr>
              <a:t>Formal Endorsement Required: Business stakeholders must formally approve the chosen approach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Phase 3: Approval &amp; Prioritization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3A5F"/>
                </a:solidFill>
              </a:rPr>
              <a:t>Vulnerability Management Committee Review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560320" cy="1828800"/>
          </a:xfrm>
          <a:prstGeom prst="rect">
            <a:avLst/>
          </a:prstGeom>
          <a:solidFill>
            <a:srgbClr val="E8F0F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8308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Assessment</a:t>
            </a:r>
            <a:endParaRPr lang="en-US" dirty="0"/>
          </a:p>
          <a:p>
            <a:pPr indent="0" marL="0">
              <a:buNone/>
            </a:pP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• Risk evaluation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• Priority determination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• Resource allocation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291840" y="1645920"/>
            <a:ext cx="2560320" cy="1828800"/>
          </a:xfrm>
          <a:prstGeom prst="rect">
            <a:avLst/>
          </a:prstGeom>
          <a:solidFill>
            <a:srgbClr val="E8F0F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78308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Approval</a:t>
            </a:r>
            <a:endParaRPr lang="en-US" dirty="0"/>
          </a:p>
          <a:p>
            <a:pPr indent="0" marL="0">
              <a:buNone/>
            </a:pP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• Executive sign-off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• Budget confirmation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• Timeline agreement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126480" y="1645920"/>
            <a:ext cx="2560320" cy="1828800"/>
          </a:xfrm>
          <a:prstGeom prst="rect">
            <a:avLst/>
          </a:prstGeom>
          <a:solidFill>
            <a:srgbClr val="E8F0F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78308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Board Endorsement</a:t>
            </a:r>
            <a:endParaRPr lang="en-US" dirty="0"/>
          </a:p>
          <a:p>
            <a:pPr indent="0" marL="0">
              <a:buNone/>
            </a:pP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• Strategic alignment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• Governance approval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• Risk acceptance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Phase 4: Remediation Execution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3A5F"/>
                </a:solidFill>
              </a:rPr>
              <a:t>Build &amp; Implementation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✓ Full traceability to original vulnerability maintained throughout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✓ Secure development practices followed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✓ All changes subject to rigorous testing requirements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✓ Implementation tracked with version control and change logs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8229600" cy="914400"/>
          </a:xfrm>
          <a:prstGeom prst="rect">
            <a:avLst/>
          </a:prstGeom>
          <a:solidFill>
            <a:srgbClr val="E8F0F8"/>
          </a:solidFill>
          <a:ln w="25400">
            <a:solidFill>
              <a:srgbClr val="CC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4290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CC0000"/>
                </a:solidFill>
              </a:rPr>
              <a:t>Critical Control: Functional validation, regression testing, and targeted security testing required before production deployment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Phase 5: Validation &amp; Testing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286000" cy="36576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Functional Testing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926080" y="10972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Validates remediation works without adverse side effects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926080" y="1554480"/>
            <a:ext cx="576072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16002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Evidence: Test plans, results, sign-offs from testing team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2286000" cy="36576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40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Regression Testing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926080" y="21945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Confirms no new vulnerabilities or issues introduced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926080" y="2651760"/>
            <a:ext cx="5760720" cy="548640"/>
          </a:xfrm>
          <a:prstGeom prst="rect">
            <a:avLst/>
          </a:prstGeom>
          <a:solidFill>
            <a:srgbClr val="F5F5F5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26974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Evidence: Test plans, results, sign-offs from testing team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2286000" cy="36576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37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Security Testing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926080" y="32918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Targeted testing by Cyber Security to confirm fix effectiveness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Phase 6: Deployment to Production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3A5F"/>
                </a:solidFill>
              </a:rPr>
              <a:t>Controlled Change Management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114800" cy="1828800"/>
          </a:xfrm>
          <a:prstGeom prst="rect">
            <a:avLst/>
          </a:prstGeom>
          <a:solidFill>
            <a:srgbClr val="E8F0F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8308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Deployment</a:t>
            </a:r>
            <a:endParaRPr lang="en-US" dirty="0"/>
          </a:p>
          <a:p>
            <a:pPr indent="0" marL="0">
              <a:buNone/>
            </a:pP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• Scheduled maintenance window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• Stakeholder communication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• Technical team on-call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754880" y="1645920"/>
            <a:ext cx="3931920" cy="1828800"/>
          </a:xfrm>
          <a:prstGeom prst="rect">
            <a:avLst/>
          </a:prstGeom>
          <a:solidFill>
            <a:srgbClr val="E8F0F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7830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Rollback Plan</a:t>
            </a:r>
            <a:endParaRPr lang="en-US" dirty="0"/>
          </a:p>
          <a:p>
            <a:pPr indent="0" marL="0">
              <a:buNone/>
            </a:pP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• Pre-deployment backup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• Rollback procedures documented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• Go/No-Go decision criteria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CC0000"/>
                </a:solidFill>
              </a:rPr>
              <a:t>All deployments classified as urgent or emergency changes depending on severity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Phase 7: Post-Deployment Validation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3A5F"/>
                </a:solidFill>
              </a:rPr>
              <a:t>Validation Requirements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→ Final validation confirms vulnerability has been fully remediated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→ System behavior remains stable post-deployment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→ No adverse side effects or new issues detected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→ Enhanced monitoring in place for early detection of issues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→ Performance metrics baseline confirmed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CC0000"/>
                </a:solidFill>
              </a:rPr>
              <a:t>Sign-off Required: Cyber Security and Technical teams must formally validate remediation effectiveness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Phase 8: Closure &amp; Documentation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3A5F"/>
                </a:solidFill>
              </a:rPr>
              <a:t>Evidence Pack Components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20040" cy="32004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1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Original vulnerability finding and initial assessment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20040" cy="32004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554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2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212080" y="1600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Validation evidence and remediation confirmation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320040" cy="32004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011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3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14400" y="2057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Risk assessment and design decision documentation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54880" y="2011680"/>
            <a:ext cx="320040" cy="32004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011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4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212080" y="2057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Implementation records and change logs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320040" cy="32004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5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14400" y="2514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Test results and security validation outcomes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754880" y="2468880"/>
            <a:ext cx="320040" cy="32004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6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212080" y="2514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Post-deployment confirmation and sign-offs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CC0000"/>
                </a:solidFill>
              </a:rPr>
              <a:t>Formal Closure: Only approved when all evidence is complete and Line 2 Risk endorsement is obtained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Governance &amp; Reporting Requirements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3A5F"/>
                </a:solidFill>
              </a:rPr>
              <a:t>Continuous Oversight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Issue Tracking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468880" y="169164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All Critical/High vulnerabilities tracked in Insight system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31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Executive Reporting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68880" y="23317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Monthly reporting to executive and Board committees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71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Audit Trail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468880" y="29718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Complete audit trail maintained for all activities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182880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611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Escalation Protocol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468880" y="361188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Automatic escalation if remediation timelines breached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Compliance &amp; Regulatory Alignment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1371600"/>
          </a:xfrm>
          <a:prstGeom prst="rect">
            <a:avLst/>
          </a:prstGeom>
          <a:solidFill>
            <a:srgbClr val="E8F0F8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3A5F"/>
                </a:solidFill>
              </a:rPr>
              <a:t>CPS 234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Information Security – aligned with APRA requirements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0" y="1097280"/>
            <a:ext cx="3840480" cy="1371600"/>
          </a:xfrm>
          <a:prstGeom prst="rect">
            <a:avLst/>
          </a:prstGeom>
          <a:solidFill>
            <a:srgbClr val="E8F0F8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3A5F"/>
                </a:solidFill>
              </a:rPr>
              <a:t>Prudential Requirements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54880" y="160020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Board accountability and risk governance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840480" cy="1371600"/>
          </a:xfrm>
          <a:prstGeom prst="rect">
            <a:avLst/>
          </a:prstGeom>
          <a:solidFill>
            <a:srgbClr val="E8F0F8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80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3A5F"/>
                </a:solidFill>
              </a:rPr>
              <a:t>Enterprise Risk Framework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Aligned with QBE risk management standards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572000" y="2743200"/>
            <a:ext cx="3840480" cy="1371600"/>
          </a:xfrm>
          <a:prstGeom prst="rect">
            <a:avLst/>
          </a:prstGeom>
          <a:solidFill>
            <a:srgbClr val="E8F0F8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880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3A5F"/>
                </a:solidFill>
              </a:rPr>
              <a:t>Audit &amp; Assurance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54880" y="32461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Defensible for internal and external audit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Key Controls &amp; Assurance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3A5F"/>
                </a:solidFill>
              </a:rPr>
              <a:t>Control Framework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20040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Control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657600" y="1645920"/>
            <a:ext cx="292608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3749040" y="1691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Owner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583680" y="1645920"/>
            <a:ext cx="210312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6916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Frequency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3200400" cy="320040"/>
          </a:xfrm>
          <a:prstGeom prst="rect">
            <a:avLst/>
          </a:prstGeom>
          <a:solidFill>
            <a:srgbClr val="E8F0F8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116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Independent Verification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657600" y="1965960"/>
            <a:ext cx="2926080" cy="320040"/>
          </a:xfrm>
          <a:prstGeom prst="rect">
            <a:avLst/>
          </a:prstGeom>
          <a:solidFill>
            <a:srgbClr val="E8F0F8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2011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Cyber Security &amp; Risk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583680" y="1965960"/>
            <a:ext cx="2103120" cy="320040"/>
          </a:xfrm>
          <a:prstGeom prst="rect">
            <a:avLst/>
          </a:prstGeom>
          <a:solidFill>
            <a:srgbClr val="E8F0F8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0116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Per phase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57200" y="2286000"/>
            <a:ext cx="320040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3317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Testing Oversight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657600" y="2286000"/>
            <a:ext cx="292608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2331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QA &amp; Cyber Security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583680" y="2286000"/>
            <a:ext cx="210312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233172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Per phase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57200" y="2606040"/>
            <a:ext cx="3200400" cy="320040"/>
          </a:xfrm>
          <a:prstGeom prst="rect">
            <a:avLst/>
          </a:prstGeom>
          <a:solidFill>
            <a:srgbClr val="E8F0F8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6517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Approval Authority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657600" y="2606040"/>
            <a:ext cx="2926080" cy="320040"/>
          </a:xfrm>
          <a:prstGeom prst="rect">
            <a:avLst/>
          </a:prstGeom>
          <a:solidFill>
            <a:srgbClr val="E8F0F8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0" y="2651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Executive Management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583680" y="2606040"/>
            <a:ext cx="2103120" cy="320040"/>
          </a:xfrm>
          <a:prstGeom prst="rect">
            <a:avLst/>
          </a:prstGeom>
          <a:solidFill>
            <a:srgbClr val="E8F0F8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26517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Per phase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57200" y="2926080"/>
            <a:ext cx="320040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29718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Evidence Audit Trail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3657600" y="2926080"/>
            <a:ext cx="292608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49040" y="2971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Risk Management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6583680" y="2926080"/>
            <a:ext cx="2103120" cy="320040"/>
          </a:xfrm>
          <a:prstGeom prst="rect">
            <a:avLst/>
          </a:prstGeom>
          <a:solidFill>
            <a:srgbClr val="F5F5F5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29718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Per phase</a:t>
            </a: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57200" y="3246120"/>
            <a:ext cx="3200400" cy="320040"/>
          </a:xfrm>
          <a:prstGeom prst="rect">
            <a:avLst/>
          </a:prstGeom>
          <a:solidFill>
            <a:srgbClr val="E8F0F8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2918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Board Reporting</a:t>
            </a: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3657600" y="3246120"/>
            <a:ext cx="2926080" cy="320040"/>
          </a:xfrm>
          <a:prstGeom prst="rect">
            <a:avLst/>
          </a:prstGeom>
          <a:solidFill>
            <a:srgbClr val="E8F0F8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49040" y="32918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Risk &amp; Compliance</a:t>
            </a: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6583680" y="3246120"/>
            <a:ext cx="2103120" cy="320040"/>
          </a:xfrm>
          <a:prstGeom prst="rect">
            <a:avLst/>
          </a:prstGeom>
          <a:solidFill>
            <a:srgbClr val="E8F0F8"/>
          </a:solidFill>
          <a:ln w="6350">
            <a:solidFill>
              <a:srgbClr val="0066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0" y="32918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Per phase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b="1" dirty="0">
                <a:solidFill>
                  <a:srgbClr val="FFFFFF"/>
                </a:solidFill>
              </a:rPr>
              <a:t>Document Control &amp; Approvals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3A5F"/>
                </a:solidFill>
              </a:rPr>
              <a:t>Version Control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Version: 1.0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Date: May 2026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Classification: Board Approved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Effective: Immediate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1E3A5F"/>
                </a:solidFill>
              </a:rPr>
              <a:t>Approvals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212080" y="1554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☐ Chief Information Officer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212080" y="1874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☐ Chief Risk Officer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12080" y="2194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☐ Audit Committee Chair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212080" y="2514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☐ Board Risk Committee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solidFill>
            <a:srgbClr val="E8F0F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3756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F1F1F"/>
                </a:solidFill>
              </a:rPr>
              <a:t>This procedure represents QBE's commitment to robust, defensible vulnerability remediation in compliance with APRA CPS 234 requirements and Board governance standards.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2026-05-20T20:58:13Z</dcterms:created>
  <dcterms:modified xsi:type="dcterms:W3CDTF">2026-05-20T20:58:13Z</dcterms:modified>
</cp:coreProperties>
</file>